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4" r:id="rId8"/>
    <p:sldId id="262" r:id="rId9"/>
    <p:sldId id="263" r:id="rId10"/>
    <p:sldId id="261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8" y="370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1F-4F43-BEED-03DCA838C71E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1F-4F43-BEED-03DCA838C71E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31F-4F43-BEED-03DCA838C7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484930767"/>
        <c:axId val="1314992511"/>
      </c:barChart>
      <c:catAx>
        <c:axId val="14849307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14992511"/>
        <c:crosses val="autoZero"/>
        <c:auto val="1"/>
        <c:lblAlgn val="ctr"/>
        <c:lblOffset val="100"/>
        <c:noMultiLvlLbl val="0"/>
      </c:catAx>
      <c:valAx>
        <c:axId val="1314992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4930767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B6D4-8099-4756-8908-562500375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0E2CC7-777D-448D-B56E-B8CD1C186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BF387E-AB7B-4B4B-897D-81514C7BA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04.11.2024</a:t>
            </a:fld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0FBE17-044B-4AF6-A289-0A782F3B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144957-439D-47CC-A8ED-6A2C122E5876}"/>
              </a:ext>
            </a:extLst>
          </p:cNvPr>
          <p:cNvSpPr/>
          <p:nvPr userDrawn="1"/>
        </p:nvSpPr>
        <p:spPr>
          <a:xfrm>
            <a:off x="4854698" y="634674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presentation-creation.ru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59A56F-C8EE-4028-B120-76C4E70D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presentation-creation.ru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915E017-FBEA-43E5-BEF2-B852B6A94906}"/>
              </a:ext>
            </a:extLst>
          </p:cNvPr>
          <p:cNvSpPr/>
          <p:nvPr userDrawn="1"/>
        </p:nvSpPr>
        <p:spPr>
          <a:xfrm rot="5400000">
            <a:off x="11135364" y="89019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</a:rPr>
              <a:t>presentation-creation.ru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0DB0974-8DAE-4930-B0E4-D6947F1CF9DB}"/>
              </a:ext>
            </a:extLst>
          </p:cNvPr>
          <p:cNvSpPr/>
          <p:nvPr userDrawn="1"/>
        </p:nvSpPr>
        <p:spPr>
          <a:xfrm>
            <a:off x="10706858" y="558324"/>
            <a:ext cx="5903277" cy="590327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44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0CF4848C-182A-48DE-86CF-3C8368C3121A}"/>
              </a:ext>
            </a:extLst>
          </p:cNvPr>
          <p:cNvSpPr/>
          <p:nvPr userDrawn="1"/>
        </p:nvSpPr>
        <p:spPr>
          <a:xfrm>
            <a:off x="10675699" y="5341699"/>
            <a:ext cx="3032601" cy="303260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59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Заголовок и объект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B4ED40E4-D66C-4EAD-BA0C-819E90B5C1FE}"/>
              </a:ext>
            </a:extLst>
          </p:cNvPr>
          <p:cNvSpPr/>
          <p:nvPr userDrawn="1"/>
        </p:nvSpPr>
        <p:spPr>
          <a:xfrm>
            <a:off x="-1516301" y="5341699"/>
            <a:ext cx="3032601" cy="303260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192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54238" y="1825625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1B639A41-DCFC-4CBD-95A9-00918D1E0C5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354237" y="2515712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E6A01D8-B25F-4969-9EEE-02D40393738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339448" y="3400900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EB1E053F-9E78-4E0C-A2B0-31B557FA902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39447" y="4090987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B877FE1-D2EF-4E9F-AC08-DACA8D5147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331088" y="4916011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78790F4C-C0C7-494A-ACE0-B312EAD20E8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331087" y="5606098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FE8DB97C-8AB8-4590-BE44-515D12A9C284}"/>
              </a:ext>
            </a:extLst>
          </p:cNvPr>
          <p:cNvSpPr/>
          <p:nvPr userDrawn="1"/>
        </p:nvSpPr>
        <p:spPr>
          <a:xfrm>
            <a:off x="9982200" y="692767"/>
            <a:ext cx="5472466" cy="54724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CEAAC75B-6063-4FE0-9C28-0FF49AF84253}"/>
              </a:ext>
            </a:extLst>
          </p:cNvPr>
          <p:cNvSpPr/>
          <p:nvPr userDrawn="1"/>
        </p:nvSpPr>
        <p:spPr>
          <a:xfrm>
            <a:off x="838200" y="1967316"/>
            <a:ext cx="385652" cy="38565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AA56E5AB-08C2-4F64-BE29-48394A6AF994}"/>
              </a:ext>
            </a:extLst>
          </p:cNvPr>
          <p:cNvSpPr/>
          <p:nvPr userDrawn="1"/>
        </p:nvSpPr>
        <p:spPr>
          <a:xfrm>
            <a:off x="838200" y="3485649"/>
            <a:ext cx="385652" cy="38565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929F01BF-6851-447C-BD5D-558D26D156EA}"/>
              </a:ext>
            </a:extLst>
          </p:cNvPr>
          <p:cNvSpPr/>
          <p:nvPr userDrawn="1"/>
        </p:nvSpPr>
        <p:spPr>
          <a:xfrm>
            <a:off x="838200" y="5000760"/>
            <a:ext cx="385652" cy="38565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49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50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FC2F1-B382-4B54-9A9F-910235201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8882E1-F531-4863-8725-4DFFB1D93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542041-3F17-4A54-9CFD-5CC89C88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3D8362-ABA0-448B-9472-8CE30412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12121C-8D9C-473B-9CAA-041E14CE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5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D5AC9-D947-4E91-8E54-564E619C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BC3E08-A33C-41B0-9FF8-A48D661D3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563770-7BF6-4230-8BC5-AB14818DC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4B284D-4A4E-43FE-BC90-E29166BB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D419C2-0DDE-45ED-A6BB-A7CF0C6F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8D6DE2-C0F1-4631-8D1B-61DD10E7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0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F1CD0-71F9-4ED3-890F-20F3C621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FEAC71-3741-4F27-877E-AC8E2B1CC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0C1B9D-7DA5-4D32-81AA-D58CAF37C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45751E-43C2-4B2E-91C9-868F84D3E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06CFF53-F322-41AA-9E85-224959B71B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24C7FE-288B-4A4F-A747-871045CD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3F8A51-9E24-4CD8-9A95-89D90C66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629EE09-F27C-4D57-8664-E5E7CB80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29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F0AC8-9D6A-48CD-9E4D-7A12D1C8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73AF8AA-A3DF-45CE-90B8-A257BB2E7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DF56705-7C94-4DCD-BF06-8BF6906E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F7DF18-617E-48F0-9074-B7506BDF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6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499FCD3-56A4-4284-81DF-E3E50BDC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047691-5406-41FC-B8DB-B022027B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7AEBC5-6561-4B36-B570-38605695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35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F69B2-4FAE-42A4-BBC5-8BF096DE8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CD1947-0CD2-42BD-BFD1-5C4416618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CDABD2-BF7A-4C8F-8B16-EA52A5F14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72B473-E977-441B-A8EB-3301D765A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7E1CEE-3915-4259-A6A7-D1B01B39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EB3D31-7ACD-4C98-9D8E-2BDDE7B0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23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05F6B-C902-4B3E-9912-C6E442B65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BC53AF-8425-4939-91AE-F683272D0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02FBB3-E12C-46E0-9C0A-AECE9178D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AFC505-F1A6-46C8-AAC8-934BC95D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0E9474-4172-432C-832B-FEC719D7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F9343C-F37B-47D0-875B-2AF37732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47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3A611-4217-496F-A970-40D336B5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A99D7E-740A-449C-B04F-6390E5DB2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607AD3-B579-44BB-B354-6F0449D5A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BF37B6-1BF7-43A4-81B9-1EFFAFF2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56BAB7-98C3-43DF-A563-53F5C2CD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77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7C772B-141C-4727-B105-B525D7504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AF9FFA-49AD-4472-B85D-6ACC9C4B2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AE0885-5569-4FF3-8865-96B5AEB0C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21D7BD-2437-400A-B0D7-8AFEDE15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05A581-BC3B-448C-8E3E-BD317415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40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hyperlink" Target="https://presentation-creation.ru/" TargetMode="External"/><Relationship Id="rId1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E9284-BDA4-45F8-A54F-94F6151AA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2D6D37-E80C-4087-8866-D624C739E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A1800B-2E1A-4303-9892-AB08F80EA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BC04A6-2998-40EB-BF13-94B54C7AD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E2691-9DFE-40D1-8BB1-8DFF491DA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6"/>
            <a:extLst>
              <a:ext uri="{FF2B5EF4-FFF2-40B4-BE49-F238E27FC236}">
                <a16:creationId xmlns:a16="http://schemas.microsoft.com/office/drawing/2014/main" id="{1847D26E-390E-4229-B0D7-62066CD41BE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2808" y="-63994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6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0" r:id="rId4"/>
    <p:sldLayoutId id="2147483661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resentation-creation.ru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presentation-creation.ru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presentation-creation.ru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resentation-creation.ru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hyperlink" Target="https://presentation-creation.ru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presentation-creation.ru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Relationship Id="rId3" Type="http://schemas.openxmlformats.org/officeDocument/2006/relationships/hyperlink" Target="https://presentation-creation.ru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presentation-creation.ru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8.png"/><Relationship Id="rId7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14C99-7919-492A-902F-F998BFE74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Моделинг в современном мире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4573D8-B18B-4351-8D21-9BF0CE49F9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Актуальность и перспективы</a:t>
            </a:r>
          </a:p>
        </p:txBody>
      </p:sp>
    </p:spTree>
    <p:extLst>
      <p:ext uri="{BB962C8B-B14F-4D97-AF65-F5344CB8AC3E}">
        <p14:creationId xmlns:p14="http://schemas.microsoft.com/office/powerpoint/2010/main" val="228411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648EEE-EB04-45C3-8A11-F15DBC12F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История моделинга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E16F1E-F64A-4CD2-8C02-7EED1305B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Моделинг зародился как индустрия в середине 20 века.</a:t>
            </a:r>
          </a:p>
          <a:p>
            <a:pPr/>
            <a:r>
              <a:t>Современная мода формировала новые стандарты красоты.</a:t>
            </a:r>
          </a:p>
          <a:p>
            <a:pPr/>
            <a:r>
              <a:t>Появление супермоделей изменило восприятие профессии.</a:t>
            </a:r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963B8635-62E8-4D93-AC27-8CF54520A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t>Моделинг зародился как индустрия в середине 20 века.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  <a:p>
            <a:pPr/>
            <a:r>
              <a:t>Современная мода формировала новые стандарты красоты.</a:t>
            </a:r>
          </a:p>
          <a:p>
            <a:pPr/>
            <a:r>
              <a:t>Появление супермоделей изменило восприятие профессии.</a:t>
            </a:r>
          </a:p>
        </p:txBody>
      </p:sp>
    </p:spTree>
    <p:extLst>
      <p:ext uri="{BB962C8B-B14F-4D97-AF65-F5344CB8AC3E}">
        <p14:creationId xmlns:p14="http://schemas.microsoft.com/office/powerpoint/2010/main" val="301053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5313C0-E99C-43E5-B419-927A0C42C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Технологии в моделинге</a:t>
            </a:r>
          </a:p>
        </p:txBody>
      </p:sp>
      <p:sp>
        <p:nvSpPr>
          <p:cNvPr id="4" name="Объект 5">
            <a:extLst>
              <a:ext uri="{FF2B5EF4-FFF2-40B4-BE49-F238E27FC236}">
                <a16:creationId xmlns:a16="http://schemas.microsoft.com/office/drawing/2014/main" id="{F41565BA-F540-4AFC-986F-248F12BC9080}"/>
              </a:ext>
            </a:extLst>
          </p:cNvPr>
          <p:cNvSpPr txBox="1">
            <a:spLocks/>
          </p:cNvSpPr>
          <p:nvPr/>
        </p:nvSpPr>
        <p:spPr>
          <a:xfrm>
            <a:off x="838200" y="2619001"/>
            <a:ext cx="10515600" cy="207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t>Современные технологии сделали фотосессии доступнее.</a:t>
            </a:r>
          </a:p>
          <a:p>
            <a:pPr/>
            <a:r>
              <a:t>Виртуальные модели стали частью индустрии.</a:t>
            </a:r>
          </a:p>
          <a:p>
            <a:pPr/>
            <a:r>
              <a:t>Интернет платформа важна для самовыражения моделей.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01F5C6-014E-490D-9215-0B23FDD33261}"/>
              </a:ext>
            </a:extLst>
          </p:cNvPr>
          <p:cNvSpPr txBox="1"/>
          <p:nvPr/>
        </p:nvSpPr>
        <p:spPr>
          <a:xfrm>
            <a:off x="838200" y="4464000"/>
            <a:ext cx="8677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Современные технологии сделали фотосессии доступнее.</a:t>
            </a:r>
          </a:p>
          <a:p>
            <a:pPr/>
            <a:r>
              <a:t>Виртуальные модели стали частью индустрии.</a:t>
            </a:r>
          </a:p>
          <a:p>
            <a:pPr/>
            <a:r>
              <a:t>Интернет платформа важна для самовыражения моделей.</a:t>
            </a:r>
          </a:p>
        </p:txBody>
      </p:sp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0B9662CF-975F-42B8-B6D7-A80EE2222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t>Современные технологии сделали фотосессии доступнее.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  <a:p>
            <a:pPr/>
            <a:r>
              <a:t>Виртуальные модели стали частью индустрии.</a:t>
            </a:r>
          </a:p>
          <a:p>
            <a:pPr/>
            <a:r>
              <a:t>Интернет платформа важна для самовыражения моделей.</a:t>
            </a:r>
          </a:p>
        </p:txBody>
      </p:sp>
    </p:spTree>
    <p:extLst>
      <p:ext uri="{BB962C8B-B14F-4D97-AF65-F5344CB8AC3E}">
        <p14:creationId xmlns:p14="http://schemas.microsoft.com/office/powerpoint/2010/main" val="81266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F9B96A-B3C1-41B8-AA81-AF462A755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Экономика и карьерный рост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332D970-360A-4F5E-9793-04C9C7540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Индустрия приносит значительный доход ежегодно.</a:t>
            </a:r>
          </a:p>
          <a:p>
            <a:pPr/>
            <a:r>
              <a:t>Рост карьеры модель зависит от личного бренда.</a:t>
            </a:r>
          </a:p>
          <a:p>
            <a:pPr/>
            <a:r>
              <a:t>Лучшие модели зарабатывают миллионы долларов.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F005547-E1A9-48B5-AD32-7EA934EB28F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10000"/>
          </a:bodyPr>
          <a:lstStyle/>
          <a:p>
            <a:r>
              <a:t>Индустрия приносит значительный доход ежегодно.</a:t>
            </a:r>
          </a:p>
          <a:p>
            <a:pPr/>
            <a:r>
              <a:t>Рост карьеры модель зависит от личного бренда.</a:t>
            </a:r>
          </a:p>
          <a:p>
            <a:pPr/>
            <a:r>
              <a:t>Лучшие модели зарабатывают миллионы долларов.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FCC782F-3C10-443E-8E0D-030DB852D25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t>Индустрия приносит значительный доход ежегодно.</a:t>
            </a:r>
          </a:p>
          <a:p>
            <a:pPr/>
            <a:r>
              <a:t>Рост карьеры модель зависит от личного бренда.</a:t>
            </a:r>
          </a:p>
          <a:p>
            <a:pPr/>
            <a:r>
              <a:t>Лучшие модели зарабатывают миллионы долларов.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1AE199C3-DC8A-4E08-A86F-13AD9231F9B5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>
            <a:normAutofit fontScale="92500" lnSpcReduction="10000"/>
          </a:bodyPr>
          <a:lstStyle/>
          <a:p>
            <a:r>
              <a:t>Индустрия приносит значительный доход ежегодно.</a:t>
            </a:r>
          </a:p>
          <a:p>
            <a:pPr/>
            <a:r>
              <a:t>Рост карьеры модель зависит от личного бренда.</a:t>
            </a:r>
          </a:p>
          <a:p>
            <a:pPr/>
            <a:r>
              <a:t>Лучшие модели зарабатывают миллионы долларов.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D273222D-6B06-4BCC-9108-15861A636C7F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t>Индустрия приносит значительный доход ежегодно.</a:t>
            </a:r>
          </a:p>
          <a:p>
            <a:pPr/>
            <a:r>
              <a:t>Рост карьеры модель зависит от личного бренда.</a:t>
            </a:r>
          </a:p>
          <a:p>
            <a:pPr/>
            <a:r>
              <a:t>Лучшие модели зарабатывают миллионы долларов.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1512C4CF-E6B9-4F48-8691-76C28C09AD4F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>
            <a:normAutofit fontScale="92500" lnSpcReduction="10000"/>
          </a:bodyPr>
          <a:lstStyle/>
          <a:p>
            <a:r>
              <a:t>Индустрия приносит значительный доход ежегодно.</a:t>
            </a:r>
          </a:p>
          <a:p>
            <a:pPr/>
            <a:r>
              <a:t>Рост карьеры модель зависит от личного бренда.</a:t>
            </a:r>
          </a:p>
          <a:p>
            <a:pPr/>
            <a:r>
              <a:t>Лучшие модели зарабатывают миллионы долларов.</a:t>
            </a:r>
          </a:p>
        </p:txBody>
      </p:sp>
      <p:sp>
        <p:nvSpPr>
          <p:cNvPr id="12" name="Нижний колонтитул 4">
            <a:extLst>
              <a:ext uri="{FF2B5EF4-FFF2-40B4-BE49-F238E27FC236}">
                <a16:creationId xmlns:a16="http://schemas.microsoft.com/office/drawing/2014/main" id="{51C56685-60C9-48B3-84EA-B868FC673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t>Индустрия приносит значительный доход ежегодно.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  <a:p>
            <a:pPr/>
            <a:r>
              <a:t>Рост карьеры модель зависит от личного бренда.</a:t>
            </a:r>
          </a:p>
          <a:p>
            <a:pPr/>
            <a:r>
              <a:t>Лучшие модели зарабатывают миллионы долларов.</a:t>
            </a:r>
          </a:p>
        </p:txBody>
      </p:sp>
    </p:spTree>
    <p:extLst>
      <p:ext uri="{BB962C8B-B14F-4D97-AF65-F5344CB8AC3E}">
        <p14:creationId xmlns:p14="http://schemas.microsoft.com/office/powerpoint/2010/main" val="303874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E98CEE-51A1-4716-9FD5-FDE9070C9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Моделинг и социальные медиа</a:t>
            </a:r>
          </a:p>
        </p:txBody>
      </p:sp>
      <p:graphicFrame>
        <p:nvGraphicFramePr>
          <p:cNvPr id="6" name="Таблица 10">
            <a:extLst>
              <a:ext uri="{FF2B5EF4-FFF2-40B4-BE49-F238E27FC236}">
                <a16:creationId xmlns:a16="http://schemas.microsoft.com/office/drawing/2014/main" id="{6049A80B-E57D-4CD8-BB43-40AC0F1BB7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8643671"/>
              </p:ext>
            </p:extLst>
          </p:nvPr>
        </p:nvGraphicFramePr>
        <p:xfrm>
          <a:off x="838200" y="1825625"/>
          <a:ext cx="8128820" cy="3460961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032205">
                  <a:extLst>
                    <a:ext uri="{9D8B030D-6E8A-4147-A177-3AD203B41FA5}">
                      <a16:colId xmlns:a16="http://schemas.microsoft.com/office/drawing/2014/main" val="1060721299"/>
                    </a:ext>
                  </a:extLst>
                </a:gridCol>
                <a:gridCol w="2032205">
                  <a:extLst>
                    <a:ext uri="{9D8B030D-6E8A-4147-A177-3AD203B41FA5}">
                      <a16:colId xmlns:a16="http://schemas.microsoft.com/office/drawing/2014/main" val="3730294796"/>
                    </a:ext>
                  </a:extLst>
                </a:gridCol>
                <a:gridCol w="2032205">
                  <a:extLst>
                    <a:ext uri="{9D8B030D-6E8A-4147-A177-3AD203B41FA5}">
                      <a16:colId xmlns:a16="http://schemas.microsoft.com/office/drawing/2014/main" val="2835790685"/>
                    </a:ext>
                  </a:extLst>
                </a:gridCol>
                <a:gridCol w="2032205">
                  <a:extLst>
                    <a:ext uri="{9D8B030D-6E8A-4147-A177-3AD203B41FA5}">
                      <a16:colId xmlns:a16="http://schemas.microsoft.com/office/drawing/2014/main" val="3241802405"/>
                    </a:ext>
                  </a:extLst>
                </a:gridCol>
              </a:tblGrid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Заголовок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Заголовок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Заголовок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Заголовок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826020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Вставьте текст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297412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92689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803528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233698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167924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962612"/>
                  </a:ext>
                </a:extLst>
              </a:tr>
            </a:tbl>
          </a:graphicData>
        </a:graphic>
      </p:graphicFrame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E9312FFF-2061-4708-A37D-278966F8A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t>Социальные медиа усиливают влияние моделей.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  <a:p>
            <a:pPr/>
            <a:r>
              <a:t>Модели используют платформы для продвижения карьеры.</a:t>
            </a:r>
          </a:p>
          <a:p>
            <a:pPr/>
            <a:r>
              <a:t>Instagram стал важным инструментом для моделей.</a:t>
            </a:r>
          </a:p>
        </p:txBody>
      </p:sp>
    </p:spTree>
    <p:extLst>
      <p:ext uri="{BB962C8B-B14F-4D97-AF65-F5344CB8AC3E}">
        <p14:creationId xmlns:p14="http://schemas.microsoft.com/office/powerpoint/2010/main" val="4236880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AF770-64CD-4FF7-92A0-D9D4E501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Этика и инклюзивность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D39B40D5-63A2-4CE8-8288-D01C5C5CB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719" y="2372354"/>
            <a:ext cx="5619750" cy="295290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t>Индустрия стремится к разнообразию и инклюзивности.</a:t>
            </a:r>
          </a:p>
          <a:p>
            <a:pPr/>
            <a:r>
              <a:t>Этичность работы важна для устойчивого роста.</a:t>
            </a:r>
          </a:p>
          <a:p>
            <a:pPr/>
            <a:r>
              <a:t>Появление многогранных моделей стало трендом.</a:t>
            </a:r>
          </a:p>
        </p:txBody>
      </p:sp>
      <p:pic>
        <p:nvPicPr>
          <p:cNvPr id="5" name="Рисунок 4" descr="Презентация с линейчатой диаграммой">
            <a:extLst>
              <a:ext uri="{FF2B5EF4-FFF2-40B4-BE49-F238E27FC236}">
                <a16:creationId xmlns:a16="http://schemas.microsoft.com/office/drawing/2014/main" id="{E393F82E-A2E9-4F88-900C-40B87531C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50240" y="2165877"/>
            <a:ext cx="3159378" cy="3159378"/>
          </a:xfrm>
          <a:prstGeom prst="rect">
            <a:avLst/>
          </a:prstGeom>
          <a:effectLst/>
        </p:spPr>
      </p:pic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8B8F0EFC-95A4-49AA-8A6C-FC9901AFE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t>Индустрия стремится к разнообразию и инклюзивности.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  <a:p>
            <a:pPr/>
            <a:r>
              <a:t>Этичность работы важна для устойчивого роста.</a:t>
            </a:r>
          </a:p>
          <a:p>
            <a:pPr/>
            <a:r>
              <a:t>Появление многогранных моделей стало трендом.</a:t>
            </a:r>
          </a:p>
        </p:txBody>
      </p:sp>
    </p:spTree>
    <p:extLst>
      <p:ext uri="{BB962C8B-B14F-4D97-AF65-F5344CB8AC3E}">
        <p14:creationId xmlns:p14="http://schemas.microsoft.com/office/powerpoint/2010/main" val="407924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5B9331C3-7712-4142-83EC-649AE9ED4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Цифровая трансформация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68EF3A8-6687-4124-A04A-2525919C4727}"/>
              </a:ext>
            </a:extLst>
          </p:cNvPr>
          <p:cNvSpPr/>
          <p:nvPr/>
        </p:nvSpPr>
        <p:spPr>
          <a:xfrm>
            <a:off x="1706880" y="2027194"/>
            <a:ext cx="2601905" cy="385914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Цифровые изображения изменяют восприятие моды.</a:t>
            </a:r>
            <a:endParaRPr lang="ru-RU" dirty="0">
              <a:solidFill>
                <a:schemeClr val="accent5">
                  <a:lumMod val="75000"/>
                </a:schemeClr>
              </a:solidFill>
            </a:endParaRPr>
          </a:p>
          <a:p>
            <a:pPr/>
            <a:r>
              <a:t>Моделинг адаптируется к новым цифровым стандартам.</a:t>
            </a:r>
          </a:p>
          <a:p>
            <a:pPr/>
            <a:r>
              <a:t>3D модели открывают новые возможности.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DF961581-77E2-483C-877A-2E27D65D8FA1}"/>
              </a:ext>
            </a:extLst>
          </p:cNvPr>
          <p:cNvSpPr/>
          <p:nvPr/>
        </p:nvSpPr>
        <p:spPr>
          <a:xfrm>
            <a:off x="2651760" y="1685893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Цифровые изображения изменяют восприятие моды.</a:t>
            </a:r>
            <a:endParaRPr lang="ru-RU" dirty="0">
              <a:solidFill>
                <a:schemeClr val="tx2"/>
              </a:solidFill>
            </a:endParaRPr>
          </a:p>
          <a:p>
            <a:pPr/>
            <a:r>
              <a:t>Моделинг адаптируется к новым цифровым стандартам.</a:t>
            </a:r>
          </a:p>
          <a:p>
            <a:pPr/>
            <a:r>
              <a:t>3D модели открывают новые возможности.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ADF33B-3F56-4CF5-8EFF-11A967BC8B80}"/>
              </a:ext>
            </a:extLst>
          </p:cNvPr>
          <p:cNvSpPr txBox="1"/>
          <p:nvPr/>
        </p:nvSpPr>
        <p:spPr>
          <a:xfrm>
            <a:off x="2661286" y="1693305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t>Цифровые изображения изменяют восприятие моды.</a:t>
            </a:r>
          </a:p>
          <a:p>
            <a:pPr/>
            <a:r>
              <a:t>Моделинг адаптируется к новым цифровым стандартам.</a:t>
            </a:r>
          </a:p>
          <a:p>
            <a:pPr/>
            <a:r>
              <a:t>3D модели открывают новые возможности.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578E784-7E8B-4712-8BBF-FE373F3EBF86}"/>
              </a:ext>
            </a:extLst>
          </p:cNvPr>
          <p:cNvSpPr/>
          <p:nvPr/>
        </p:nvSpPr>
        <p:spPr>
          <a:xfrm>
            <a:off x="4839144" y="2036032"/>
            <a:ext cx="2601905" cy="385914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Цифровые изображения изменяют восприятие моды.</a:t>
            </a:r>
            <a:endParaRPr lang="ru-RU"/>
          </a:p>
          <a:p>
            <a:pPr/>
            <a:r>
              <a:t>Моделинг адаптируется к новым цифровым стандартам.</a:t>
            </a:r>
          </a:p>
          <a:p>
            <a:pPr/>
            <a:r>
              <a:t>3D модели открывают новые возможности.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E650A125-B194-481E-9BAC-BFC3E05F5C2B}"/>
              </a:ext>
            </a:extLst>
          </p:cNvPr>
          <p:cNvSpPr txBox="1">
            <a:spLocks/>
          </p:cNvSpPr>
          <p:nvPr/>
        </p:nvSpPr>
        <p:spPr>
          <a:xfrm>
            <a:off x="4934189" y="2474182"/>
            <a:ext cx="2411816" cy="3188953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t>Цифровые изображения изменяют восприятие моды.</a:t>
            </a:r>
          </a:p>
          <a:p>
            <a:pPr/>
            <a:r>
              <a:t>Моделинг адаптируется к новым цифровым стандартам.</a:t>
            </a:r>
          </a:p>
          <a:p>
            <a:pPr/>
            <a:r>
              <a:t>3D модели открывают новые возможности.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295CA05C-D87E-4F22-B2AD-FD55BBEDED6D}"/>
              </a:ext>
            </a:extLst>
          </p:cNvPr>
          <p:cNvSpPr/>
          <p:nvPr/>
        </p:nvSpPr>
        <p:spPr>
          <a:xfrm>
            <a:off x="5784024" y="1694731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Цифровые изображения изменяют восприятие моды.</a:t>
            </a:r>
            <a:endParaRPr lang="ru-RU" dirty="0">
              <a:solidFill>
                <a:schemeClr val="tx2"/>
              </a:solidFill>
            </a:endParaRPr>
          </a:p>
          <a:p>
            <a:pPr/>
            <a:r>
              <a:t>Моделинг адаптируется к новым цифровым стандартам.</a:t>
            </a:r>
          </a:p>
          <a:p>
            <a:pPr/>
            <a:r>
              <a:t>3D модели открывают новые возможности.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EAFD84-8FDA-4D19-BDD3-E9AC3CEA0C15}"/>
              </a:ext>
            </a:extLst>
          </p:cNvPr>
          <p:cNvSpPr txBox="1"/>
          <p:nvPr/>
        </p:nvSpPr>
        <p:spPr>
          <a:xfrm>
            <a:off x="5777377" y="1677013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t>Цифровые изображения изменяют восприятие моды.</a:t>
            </a:r>
            <a:endParaRPr lang="ru-RU" sz="4000" b="1" dirty="0">
              <a:solidFill>
                <a:schemeClr val="tx2"/>
              </a:solidFill>
            </a:endParaRPr>
          </a:p>
          <a:p>
            <a:pPr/>
            <a:r>
              <a:t>Моделинг адаптируется к новым цифровым стандартам.</a:t>
            </a:r>
          </a:p>
          <a:p>
            <a:pPr/>
            <a:r>
              <a:t>3D модели открывают новые возможности.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5B303F1-86D4-4BFA-B986-FAA8042C8ADB}"/>
              </a:ext>
            </a:extLst>
          </p:cNvPr>
          <p:cNvSpPr/>
          <p:nvPr/>
        </p:nvSpPr>
        <p:spPr>
          <a:xfrm>
            <a:off x="7971408" y="2044621"/>
            <a:ext cx="2601905" cy="385914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Цифровые изображения изменяют восприятие моды.</a:t>
            </a:r>
            <a:endParaRPr lang="ru-RU" dirty="0"/>
          </a:p>
          <a:p>
            <a:pPr/>
            <a:r>
              <a:t>Моделинг адаптируется к новым цифровым стандартам.</a:t>
            </a:r>
          </a:p>
          <a:p>
            <a:pPr/>
            <a:r>
              <a:t>3D модели открывают новые возможности.</a:t>
            </a:r>
          </a:p>
        </p:txBody>
      </p:sp>
      <p:sp>
        <p:nvSpPr>
          <p:cNvPr id="12" name="Овал 12">
            <a:extLst>
              <a:ext uri="{FF2B5EF4-FFF2-40B4-BE49-F238E27FC236}">
                <a16:creationId xmlns:a16="http://schemas.microsoft.com/office/drawing/2014/main" id="{E44C3463-45B5-4947-9983-B1FE2F10EDCB}"/>
              </a:ext>
            </a:extLst>
          </p:cNvPr>
          <p:cNvSpPr/>
          <p:nvPr/>
        </p:nvSpPr>
        <p:spPr>
          <a:xfrm>
            <a:off x="8916288" y="1703320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Цифровые изображения изменяют восприятие моды.</a:t>
            </a:r>
            <a:endParaRPr lang="ru-RU" dirty="0">
              <a:solidFill>
                <a:schemeClr val="tx2"/>
              </a:solidFill>
            </a:endParaRPr>
          </a:p>
          <a:p>
            <a:pPr/>
            <a:r>
              <a:t>Моделинг адаптируется к новым цифровым стандартам.</a:t>
            </a:r>
          </a:p>
          <a:p>
            <a:pPr/>
            <a:r>
              <a:t>3D модели открывают новые возможности.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E4430D-1FE9-410E-AB01-17D04B334853}"/>
              </a:ext>
            </a:extLst>
          </p:cNvPr>
          <p:cNvSpPr txBox="1"/>
          <p:nvPr/>
        </p:nvSpPr>
        <p:spPr>
          <a:xfrm>
            <a:off x="8925813" y="1700077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t>Цифровые изображения изменяют восприятие моды.</a:t>
            </a:r>
            <a:endParaRPr lang="ru-RU" sz="4000" b="1" dirty="0">
              <a:solidFill>
                <a:schemeClr val="tx2"/>
              </a:solidFill>
            </a:endParaRPr>
          </a:p>
          <a:p>
            <a:pPr/>
            <a:r>
              <a:t>Моделинг адаптируется к новым цифровым стандартам.</a:t>
            </a:r>
          </a:p>
          <a:p>
            <a:pPr/>
            <a:r>
              <a:t>3D модели открывают новые возможности.</a:t>
            </a: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A04E8F95-5820-4EE3-B8BC-A0B40E64E817}"/>
              </a:ext>
            </a:extLst>
          </p:cNvPr>
          <p:cNvSpPr txBox="1">
            <a:spLocks/>
          </p:cNvSpPr>
          <p:nvPr/>
        </p:nvSpPr>
        <p:spPr>
          <a:xfrm>
            <a:off x="8123134" y="2482771"/>
            <a:ext cx="2411816" cy="3188953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t>Цифровые изображения изменяют восприятие моды.</a:t>
            </a:r>
            <a:endParaRPr lang="ru-RU" dirty="0">
              <a:solidFill>
                <a:schemeClr val="bg1"/>
              </a:solidFill>
            </a:endParaRPr>
          </a:p>
          <a:p>
            <a:pPr/>
            <a:r>
              <a:t>Моделинг адаптируется к новым цифровым стандартам.</a:t>
            </a:r>
          </a:p>
          <a:p>
            <a:pPr/>
            <a:r>
              <a:t>3D модели открывают новые возможности.</a:t>
            </a:r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23073644-3C55-4A09-89F0-17501D49A54E}"/>
              </a:ext>
            </a:extLst>
          </p:cNvPr>
          <p:cNvSpPr txBox="1">
            <a:spLocks/>
          </p:cNvSpPr>
          <p:nvPr/>
        </p:nvSpPr>
        <p:spPr>
          <a:xfrm>
            <a:off x="1822090" y="2474182"/>
            <a:ext cx="2411816" cy="3188953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t>Цифровые изображения изменяют восприятие моды.</a:t>
            </a:r>
          </a:p>
          <a:p>
            <a:pPr/>
            <a:r>
              <a:t>Моделинг адаптируется к новым цифровым стандартам.</a:t>
            </a:r>
          </a:p>
          <a:p>
            <a:pPr/>
            <a:r>
              <a:t>3D модели открывают новые возможности.</a:t>
            </a:r>
          </a:p>
        </p:txBody>
      </p:sp>
      <p:sp>
        <p:nvSpPr>
          <p:cNvPr id="17" name="Нижний колонтитул 4">
            <a:extLst>
              <a:ext uri="{FF2B5EF4-FFF2-40B4-BE49-F238E27FC236}">
                <a16:creationId xmlns:a16="http://schemas.microsoft.com/office/drawing/2014/main" id="{7F7F434D-6865-451C-A808-1B26813BB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t>Цифровые изображения изменяют восприятие моды.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  <a:p>
            <a:pPr/>
            <a:r>
              <a:t>Моделинг адаптируется к новым цифровым стандартам.</a:t>
            </a:r>
          </a:p>
          <a:p>
            <a:pPr/>
            <a:r>
              <a:t>3D модели открывают новые возможности.</a:t>
            </a:r>
          </a:p>
        </p:txBody>
      </p:sp>
    </p:spTree>
    <p:extLst>
      <p:ext uri="{BB962C8B-B14F-4D97-AF65-F5344CB8AC3E}">
        <p14:creationId xmlns:p14="http://schemas.microsoft.com/office/powerpoint/2010/main" val="1263709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F83FBB-99C6-414B-BD6E-FDD55980C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Образование и подготовка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57330DAE-1DC7-4010-8E39-A15C1AA224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739469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05293B-D7FF-4CF9-B779-32A030608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t>Образование помогает моделям адаптироваться к изменениям.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  <a:p>
            <a:pPr/>
            <a:r>
              <a:t>Специализированные курсы увеличивают шансы на успех.</a:t>
            </a:r>
          </a:p>
          <a:p>
            <a:pPr/>
            <a:r>
              <a:t>Навыки самопрезентации помогают в продвижении карьеры.</a:t>
            </a:r>
          </a:p>
        </p:txBody>
      </p:sp>
    </p:spTree>
    <p:extLst>
      <p:ext uri="{BB962C8B-B14F-4D97-AF65-F5344CB8AC3E}">
        <p14:creationId xmlns:p14="http://schemas.microsoft.com/office/powerpoint/2010/main" val="234559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CEA1EF-15A6-4A92-86EC-CB7639E8D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Будущее индустрии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B637AA-21E0-4281-9736-F2AF724E9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Индустрия моделинга постоянно развивается.</a:t>
            </a:r>
            <a:endParaRPr lang="en-US" dirty="0">
              <a:solidFill>
                <a:schemeClr val="accent5"/>
              </a:solidFill>
            </a:endParaRPr>
          </a:p>
          <a:p>
            <a:pPr/>
            <a:r>
              <a:t>Технологические изменения влияют на стандарты красоты.</a:t>
            </a:r>
          </a:p>
          <a:p>
            <a:pPr/>
            <a:r>
              <a:t>Перспективы роста моделинга остаются высокими.</a:t>
            </a:r>
          </a:p>
        </p:txBody>
      </p:sp>
    </p:spTree>
    <p:extLst>
      <p:ext uri="{BB962C8B-B14F-4D97-AF65-F5344CB8AC3E}">
        <p14:creationId xmlns:p14="http://schemas.microsoft.com/office/powerpoint/2010/main" val="88038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9">
            <a:extLst>
              <a:ext uri="{FF2B5EF4-FFF2-40B4-BE49-F238E27FC236}">
                <a16:creationId xmlns:a16="http://schemas.microsoft.com/office/drawing/2014/main" id="{A87CEA5A-215A-4DBB-B545-F50CF292DAA2}"/>
              </a:ext>
            </a:extLst>
          </p:cNvPr>
          <p:cNvSpPr txBox="1">
            <a:spLocks/>
          </p:cNvSpPr>
          <p:nvPr/>
        </p:nvSpPr>
        <p:spPr>
          <a:xfrm>
            <a:off x="3334872" y="1548148"/>
            <a:ext cx="5522258" cy="1150267"/>
          </a:xfrm>
          <a:prstGeom prst="rect">
            <a:avLst/>
          </a:prstGeom>
          <a:effectLst>
            <a:outerShdw blurRad="50800" dist="38100" dir="5400000" algn="t" rotWithShape="0">
              <a:schemeClr val="accent4">
                <a:lumMod val="50000"/>
                <a:alpha val="40000"/>
              </a:schemeClr>
            </a:outerShdw>
          </a:effectLst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t>Моделинг в наши дни находится на рассвете изменений.</a:t>
            </a:r>
          </a:p>
          <a:p>
            <a:pPr/>
            <a:r>
              <a:t>Новые технологии приносят неограниченные возможности.</a:t>
            </a:r>
          </a:p>
          <a:p>
            <a:pPr/>
            <a:r>
              <a:t>Будущее индустрии зависит от инноваций и адаптации.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AEAEA44-06C2-4A5D-9D9E-C1EF7096228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881000" y="4773266"/>
            <a:ext cx="630000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3B9451C-D678-4C99-AD69-CB9D3789CD4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781000" y="4773266"/>
            <a:ext cx="630000" cy="630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3809903-FB57-40A7-8177-0AAD0C30CE3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681000" y="4773266"/>
            <a:ext cx="630000" cy="630000"/>
          </a:xfrm>
          <a:prstGeom prst="rect">
            <a:avLst/>
          </a:prstGeom>
        </p:spPr>
      </p:pic>
      <p:sp>
        <p:nvSpPr>
          <p:cNvPr id="17" name="Текст 11">
            <a:extLst>
              <a:ext uri="{FF2B5EF4-FFF2-40B4-BE49-F238E27FC236}">
                <a16:creationId xmlns:a16="http://schemas.microsoft.com/office/drawing/2014/main" id="{E4D2C2B0-57A9-45CB-8B9A-3A0D3020847C}"/>
              </a:ext>
            </a:extLst>
          </p:cNvPr>
          <p:cNvSpPr txBox="1">
            <a:spLocks/>
          </p:cNvSpPr>
          <p:nvPr/>
        </p:nvSpPr>
        <p:spPr>
          <a:xfrm>
            <a:off x="2608499" y="2882976"/>
            <a:ext cx="6975002" cy="170572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t>Моделинг в наши дни находится на рассвете изменений.</a:t>
            </a:r>
            <a:endParaRPr lang="ru-RU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/>
            <a:r>
              <a:t>Новые технологии приносят неограниченные возможности.</a:t>
            </a:r>
          </a:p>
          <a:p>
            <a:pPr/>
            <a:r>
              <a:t>Будущее индустрии зависит от инноваций и адаптации.</a:t>
            </a:r>
          </a:p>
        </p:txBody>
      </p:sp>
    </p:spTree>
    <p:extLst>
      <p:ext uri="{BB962C8B-B14F-4D97-AF65-F5344CB8AC3E}">
        <p14:creationId xmlns:p14="http://schemas.microsoft.com/office/powerpoint/2010/main" val="2648163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514</Words>
  <Application>Microsoft Office PowerPoint</Application>
  <PresentationFormat>Широкоэкранный</PresentationFormat>
  <Paragraphs>72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Вставьте заголовок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РЕСУРСЫ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Минимализм бежевый, шаблон презентации с сайта presentation-creation.ru</dc:title>
  <dc:creator>User Obstinate</dc:creator>
  <cp:lastModifiedBy>User Obstinate</cp:lastModifiedBy>
  <cp:revision>9</cp:revision>
  <dcterms:created xsi:type="dcterms:W3CDTF">2024-11-04T08:17:15Z</dcterms:created>
  <dcterms:modified xsi:type="dcterms:W3CDTF">2024-11-04T14:42:15Z</dcterms:modified>
</cp:coreProperties>
</file>